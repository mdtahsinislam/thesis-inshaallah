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4" r:id="rId10"/>
    <p:sldId id="263" r:id="rId11"/>
    <p:sldId id="265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94" autoAdjust="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9E7EE-6F8B-49B4-82F8-BFEED40E363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912DB-AE16-4A10-94F3-3E874793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9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912DB-AE16-4A10-94F3-3E87479394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23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912DB-AE16-4A10-94F3-3E87479394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56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925DD-A4FD-891C-C4BA-D7381094E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3C36F-0486-EBE0-2EDA-064522BD3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A72EA-0175-8131-D2CA-9C27890B3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0138F-06E2-D79A-0362-6B56EF60A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912DB-AE16-4A10-94F3-3E87479394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55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D90EC-5398-74D6-735D-443B80E79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68F90-A894-8F40-6DE5-22FD9F3C9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4FC0C-9DC9-C7F0-8F5C-3A58FEA5D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C0CAB-D565-9B03-C7AD-CDF292115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912DB-AE16-4A10-94F3-3E87479394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08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4EB2D-544B-33B1-C994-A04778E9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FDB21-7907-61C1-1440-3ECB45DA4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EA724-E200-4AB7-C559-2B5812D5D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4C835-2439-D0D7-053A-CE03E6CC2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912DB-AE16-4A10-94F3-3E87479394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07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D2777-4119-C6B1-2F64-CDBF3C84A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67965-2F56-2B77-AFEB-ADCC06670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DE22A-C0C4-A04C-9110-72228DECD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F64DA-B007-CD24-598B-559D04083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912DB-AE16-4A10-94F3-3E87479394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07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034F0-AC18-EBDB-CDB6-470ABE5BE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1C409-3429-C630-8087-A0AAAB85C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CBB13-B6DF-912F-81F8-1EB60A9DF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2CDCB-00B3-BCAA-7714-63835E154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912DB-AE16-4A10-94F3-3E87479394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46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4AD68-F7D0-B492-7264-BE5211A0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A488C-31EB-6BCF-6ACA-2D4DD9567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F29A6-10BA-5D8E-466B-111A159E8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671FD-49F1-9903-D8C5-4A7004B7B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912DB-AE16-4A10-94F3-3E87479394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34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E70B5-37EF-11FC-5384-40BC8EB6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26A82-4160-E80E-70FD-B752DF9D6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E1A7C-4344-5113-F177-AF10DBCE4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93148-2643-41D6-2AD3-23972B9E5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912DB-AE16-4A10-94F3-3E874793945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61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ED29-9B2C-DA7D-E81D-BBE9A9FA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7E3AB-00BD-EB81-A139-AAA9E6301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E83A0-C4CC-2613-62DC-46037EB8A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FE097-1C9E-02D2-8B7E-FD9E5A69D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912DB-AE16-4A10-94F3-3E87479394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07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97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7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71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7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7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37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9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8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4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1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017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5FA838A-0E6E-4C88-AD16-9F85F559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76151C-B860-4795-BFFE-F03EA5ED1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09A6CDA-1F80-461D-8F38-7CB12914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CDB1976-3A6B-4C16-97AC-67C792186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CA8B170-F785-4124-87F7-3572171AF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79AF682-A8D7-4472-A839-942C27784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C796E0-2433-4EC2-BC73-AE164D10E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30062F3-843F-4526-900A-D2E208793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DCB46FC-1F32-4277-859B-CA43B63EC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A8221B7-2F05-4B1C-86FD-19584DC95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2AF832F-AB88-42C7-B2F7-4BF3659A5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9BC4C10-0437-44D7-9B16-5D65CBDE5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635B49-FBB3-46C2-9DF8-CF0075EE3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C6703F5-894D-4289-97F5-E57DD4092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4005768-6A84-42F3-B812-F73EFC6A3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9764DCF-F546-4CF1-AD5D-48FC34631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D4A8437-E10D-4D18-8C3F-DA4A6CF4F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A16393C-72E3-4119-8F85-2BE2F3335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CE950CD-0BA2-4E8E-8A28-238F5A128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44E765B-48B0-4E85-8F07-5A919C71D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DB66722-3EF0-4F8A-9DC8-78E0707CB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AF9B387-70F9-4CAC-A228-6CE60EC3F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27FA5C8-229C-44FF-B402-6F923E45C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EBC897A-E45F-4C79-AF98-0822C279A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AB8DD1-BC74-473C-A3BD-D8FB548B5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77BBCDF-045D-48C1-A45C-BEEB892B3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43A2613-A9FC-4330-8BF0-AF8AA2A23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06C82F6-F384-4FF8-8C8D-E2E8C4F3E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A1AD9FE-6990-40AF-BA95-B0CB398A4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A32048C-7FE5-4B3D-9FC0-C544A1217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81D93C9-C94C-4F4C-97DA-01D1AF5E9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1596736-466A-49D2-9B3C-FC567257C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DB537E44-9142-4F0D-A29D-C1409784F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368205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 descr="BGC Trust University Bangladesh result – BGC Trust University Bangladesh">
            <a:extLst>
              <a:ext uri="{FF2B5EF4-FFF2-40B4-BE49-F238E27FC236}">
                <a16:creationId xmlns:a16="http://schemas.microsoft.com/office/drawing/2014/main" id="{2866ED4E-EC7E-62B0-E95C-429BC3C56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904" y="343432"/>
            <a:ext cx="9346535" cy="986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3661715-5A54-A966-09D5-8BEDF95E2471}"/>
              </a:ext>
            </a:extLst>
          </p:cNvPr>
          <p:cNvSpPr txBox="1"/>
          <p:nvPr/>
        </p:nvSpPr>
        <p:spPr>
          <a:xfrm>
            <a:off x="2306715" y="1665007"/>
            <a:ext cx="7566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Department of Computer Science and Engineering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998CAC-B913-4347-EFD2-B982C59C5189}"/>
              </a:ext>
            </a:extLst>
          </p:cNvPr>
          <p:cNvSpPr txBox="1"/>
          <p:nvPr/>
        </p:nvSpPr>
        <p:spPr>
          <a:xfrm>
            <a:off x="1828619" y="2951946"/>
            <a:ext cx="85679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Comparative Genomic Data Science for Cancer and Liver Disease Classification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A69F49-1CBF-BC87-E4E0-553695E084F5}"/>
              </a:ext>
            </a:extLst>
          </p:cNvPr>
          <p:cNvSpPr txBox="1"/>
          <p:nvPr/>
        </p:nvSpPr>
        <p:spPr>
          <a:xfrm>
            <a:off x="1182775" y="5113508"/>
            <a:ext cx="31562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latin typeface="Georgia" panose="02040502050405020303" pitchFamily="18" charset="0"/>
              </a:rPr>
              <a:t>Proposed By</a:t>
            </a:r>
          </a:p>
          <a:p>
            <a:pPr algn="ctr"/>
            <a:r>
              <a:rPr lang="en-US" dirty="0" err="1"/>
              <a:t>MdTahsin</a:t>
            </a:r>
            <a:r>
              <a:rPr lang="en-US" dirty="0"/>
              <a:t> Islam Chowdhury </a:t>
            </a:r>
          </a:p>
          <a:p>
            <a:pPr algn="ctr"/>
            <a:r>
              <a:rPr lang="en-US" dirty="0"/>
              <a:t>230240012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A2184AB-EB9B-AF14-7598-6AF2CE41BDD1}"/>
              </a:ext>
            </a:extLst>
          </p:cNvPr>
          <p:cNvSpPr txBox="1"/>
          <p:nvPr/>
        </p:nvSpPr>
        <p:spPr>
          <a:xfrm>
            <a:off x="7874162" y="5109107"/>
            <a:ext cx="31562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latin typeface="Georgia" panose="02040502050405020303" pitchFamily="18" charset="0"/>
              </a:rPr>
              <a:t>Supervised</a:t>
            </a:r>
            <a:r>
              <a:rPr lang="en-US" b="1" u="sng" dirty="0"/>
              <a:t> by</a:t>
            </a:r>
          </a:p>
          <a:p>
            <a:pPr algn="ctr"/>
            <a:r>
              <a:rPr lang="en-US" dirty="0"/>
              <a:t>Md. </a:t>
            </a:r>
            <a:r>
              <a:rPr lang="en-US" dirty="0" err="1"/>
              <a:t>Asaduzzaman</a:t>
            </a:r>
            <a:endParaRPr lang="en-US" dirty="0"/>
          </a:p>
          <a:p>
            <a:pPr algn="ctr"/>
            <a:r>
              <a:rPr lang="en-US" dirty="0"/>
              <a:t>Lecturer</a:t>
            </a:r>
          </a:p>
        </p:txBody>
      </p:sp>
    </p:spTree>
    <p:extLst>
      <p:ext uri="{BB962C8B-B14F-4D97-AF65-F5344CB8AC3E}">
        <p14:creationId xmlns:p14="http://schemas.microsoft.com/office/powerpoint/2010/main" val="3333435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49B0363-E471-3C56-6CB1-563F8ABE3AB3}"/>
              </a:ext>
            </a:extLst>
          </p:cNvPr>
          <p:cNvSpPr txBox="1"/>
          <p:nvPr/>
        </p:nvSpPr>
        <p:spPr>
          <a:xfrm>
            <a:off x="691079" y="725951"/>
            <a:ext cx="4927425" cy="19385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Outlines</a:t>
            </a:r>
          </a:p>
        </p:txBody>
      </p:sp>
      <p:sp>
        <p:nvSpPr>
          <p:cNvPr id="85" name="Right Triangle 84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20640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07847-7CA9-B29D-F4EF-DAFAA42B242A}"/>
              </a:ext>
            </a:extLst>
          </p:cNvPr>
          <p:cNvSpPr txBox="1"/>
          <p:nvPr/>
        </p:nvSpPr>
        <p:spPr>
          <a:xfrm>
            <a:off x="691079" y="2886116"/>
            <a:ext cx="4927425" cy="3245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2"/>
                </a:solidFill>
              </a:rPr>
              <a:t>Introduction</a:t>
            </a:r>
          </a:p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2"/>
                </a:solidFill>
              </a:rPr>
              <a:t>Problem Statements</a:t>
            </a:r>
          </a:p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2"/>
                </a:solidFill>
              </a:rPr>
              <a:t>Research Objectives</a:t>
            </a:r>
          </a:p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2"/>
                </a:solidFill>
              </a:rPr>
              <a:t>Literature Review</a:t>
            </a:r>
          </a:p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2"/>
                </a:solidFill>
              </a:rPr>
              <a:t>Methodology</a:t>
            </a:r>
          </a:p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2"/>
                </a:solidFill>
              </a:rPr>
              <a:t>Tools and Technologies</a:t>
            </a:r>
          </a:p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2"/>
                </a:solidFill>
              </a:rPr>
              <a:t>Outcomes</a:t>
            </a:r>
          </a:p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2"/>
                </a:solidFill>
              </a:rPr>
              <a:t>Conclusion</a:t>
            </a:r>
          </a:p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2"/>
                </a:solidFill>
              </a:rPr>
              <a:t>References</a:t>
            </a:r>
          </a:p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endParaRPr lang="en-US" sz="1700" dirty="0">
              <a:solidFill>
                <a:schemeClr val="tx2"/>
              </a:solidFill>
            </a:endParaRPr>
          </a:p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endParaRPr lang="en-US" sz="1700" dirty="0">
              <a:solidFill>
                <a:schemeClr val="tx2"/>
              </a:solidFill>
            </a:endParaRPr>
          </a:p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endParaRPr lang="en-US" sz="1700" dirty="0">
              <a:solidFill>
                <a:schemeClr val="tx2"/>
              </a:solidFill>
            </a:endParaRPr>
          </a:p>
          <a:p>
            <a:pPr indent="-228600" defTabSz="914400"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endParaRPr lang="en-US" sz="1700" dirty="0">
              <a:solidFill>
                <a:schemeClr val="tx2"/>
              </a:solidFill>
            </a:endParaRPr>
          </a:p>
        </p:txBody>
      </p:sp>
      <p:pic>
        <p:nvPicPr>
          <p:cNvPr id="86" name="Picture 85" descr="People working on ideas">
            <a:extLst>
              <a:ext uri="{FF2B5EF4-FFF2-40B4-BE49-F238E27FC236}">
                <a16:creationId xmlns:a16="http://schemas.microsoft.com/office/drawing/2014/main" id="{A61F3FAD-8374-A25E-74C9-4F2749C2B7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60" r="25832" b="1"/>
          <a:stretch>
            <a:fillRect/>
          </a:stretch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98773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FE7F12-CB76-8F65-F6ED-990A9D1B547F}"/>
              </a:ext>
            </a:extLst>
          </p:cNvPr>
          <p:cNvSpPr txBox="1"/>
          <p:nvPr/>
        </p:nvSpPr>
        <p:spPr>
          <a:xfrm>
            <a:off x="338328" y="1177880"/>
            <a:ext cx="10863072" cy="5022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Genomic data science analyzes biological information using computational methods and advanced machine learning techniques.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Cancer and liver disease cause significant global mortality, requiring accurate early diagnostic approaches urgently.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Gene expression analysis identifies molecular patterns associated with disease development, progression, and treatment responses.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Public genomic datasets provide reliable biological information for comparative disease classification research studies.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Machine learning algorithms improve classification accuracy using informative genomic features from gene expression.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Comparative genomic analysis supports biomarker discovery, precision medicine, and effective disease diagnosis advancements.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8F77F-8B17-2D78-EEC1-6920B00813FF}"/>
              </a:ext>
            </a:extLst>
          </p:cNvPr>
          <p:cNvSpPr txBox="1"/>
          <p:nvPr/>
        </p:nvSpPr>
        <p:spPr>
          <a:xfrm>
            <a:off x="4836884" y="427271"/>
            <a:ext cx="1865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Introduction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8914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BB8F7-48F0-222D-C3DA-D5403E66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147236-22EA-26F8-BB9D-8103C2967874}"/>
              </a:ext>
            </a:extLst>
          </p:cNvPr>
          <p:cNvSpPr txBox="1"/>
          <p:nvPr/>
        </p:nvSpPr>
        <p:spPr>
          <a:xfrm>
            <a:off x="4263491" y="390695"/>
            <a:ext cx="3665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Georgia" panose="02040502050405020303" pitchFamily="18" charset="0"/>
              </a:rPr>
              <a:t>Problem Statements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D29A5-1908-1103-8E20-7EFBB58A7C51}"/>
              </a:ext>
            </a:extLst>
          </p:cNvPr>
          <p:cNvSpPr txBox="1"/>
          <p:nvPr/>
        </p:nvSpPr>
        <p:spPr>
          <a:xfrm>
            <a:off x="283464" y="1188363"/>
            <a:ext cx="11411712" cy="5022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ptos Narrow" panose="020B0004020202020204" pitchFamily="34" charset="0"/>
              <a:buChar char="●"/>
            </a:pPr>
            <a:r>
              <a:rPr lang="en-US" dirty="0"/>
              <a:t>Comparative genomic analyses between cancer and liver disease remain limited using public genomic datasets.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ptos Narrow" panose="020B0004020202020204" pitchFamily="34" charset="0"/>
              <a:buChar char="●"/>
            </a:pPr>
            <a:r>
              <a:rPr lang="en-US" dirty="0"/>
              <a:t>Existing studies primarily investigate individual diseases instead of comprehensive cross-disease genomic comparisons effectively.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ptos Narrow" panose="020B0004020202020204" pitchFamily="34" charset="0"/>
              <a:buChar char="●"/>
            </a:pPr>
            <a:r>
              <a:rPr lang="en-US" dirty="0"/>
              <a:t>Shared biomarkers and disease-specific genetic patterns remain insufficiently explored across multiple genomic datasets.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ptos Narrow" panose="020B0004020202020204" pitchFamily="34" charset="0"/>
              <a:buChar char="●"/>
            </a:pPr>
            <a:r>
              <a:rPr lang="en-US" dirty="0"/>
              <a:t>High-dimensional genomic data creates challenges for accurate disease classification using conventional analytical methods.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ptos Narrow" panose="020B0004020202020204" pitchFamily="34" charset="0"/>
              <a:buChar char="●"/>
            </a:pPr>
            <a:r>
              <a:rPr lang="en-US" dirty="0"/>
              <a:t>Lack of standardized comparative frameworks reduces reliability, reproducibility, and clinical applicability of genomic studies.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Aptos Narrow" panose="020B0004020202020204" pitchFamily="34" charset="0"/>
              <a:buChar char="●"/>
            </a:pPr>
            <a:r>
              <a:rPr lang="en-US" dirty="0"/>
              <a:t>Effective machine learning approaches are needed for improved genomic disease classification and biomarker discovery.</a:t>
            </a:r>
          </a:p>
        </p:txBody>
      </p:sp>
    </p:spTree>
    <p:extLst>
      <p:ext uri="{BB962C8B-B14F-4D97-AF65-F5344CB8AC3E}">
        <p14:creationId xmlns:p14="http://schemas.microsoft.com/office/powerpoint/2010/main" val="31946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CE262-1860-C151-F7EA-C6B1D20AB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5FE5D6-88CD-C725-F011-D3779BAC85C0}"/>
              </a:ext>
            </a:extLst>
          </p:cNvPr>
          <p:cNvSpPr txBox="1"/>
          <p:nvPr/>
        </p:nvSpPr>
        <p:spPr>
          <a:xfrm>
            <a:off x="4622936" y="436415"/>
            <a:ext cx="3369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Georgia" panose="02040502050405020303" pitchFamily="18" charset="0"/>
              </a:rPr>
              <a:t>Research Objectives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DED3B-FD49-726A-67B6-5012324A5F7B}"/>
              </a:ext>
            </a:extLst>
          </p:cNvPr>
          <p:cNvSpPr txBox="1"/>
          <p:nvPr/>
        </p:nvSpPr>
        <p:spPr>
          <a:xfrm>
            <a:off x="312420" y="1298091"/>
            <a:ext cx="11567160" cy="4606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dirty="0"/>
              <a:t>Collect and preprocess publicly available genomic datasets from reliable NCBI GEO repositories efficiently.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dirty="0"/>
              <a:t>Identify differentially expressed genes associated with cancer and liver disease through comparative genomic analysis.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dirty="0"/>
              <a:t>Compare shared and disease-specific gene expression patterns across both selected genomic datasets accurately.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dirty="0"/>
              <a:t>Investigate disease-associated genetic variations using standardized bioinformatics techniques and computational analysis methods effectively.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dirty="0"/>
              <a:t>Perform Gene Ontology and pathway enrichment analyses identifying significant biological processes and pathways.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dirty="0"/>
              <a:t>Discover potential biomarkers improving disease diagnosis, classification, precision medicine, and targeted therapeutic development.</a:t>
            </a:r>
          </a:p>
        </p:txBody>
      </p:sp>
    </p:spTree>
    <p:extLst>
      <p:ext uri="{BB962C8B-B14F-4D97-AF65-F5344CB8AC3E}">
        <p14:creationId xmlns:p14="http://schemas.microsoft.com/office/powerpoint/2010/main" val="1066823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B2110-7661-FB8A-8DC9-31E0EA922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BC4475-9C14-6906-C554-3DE445F29407}"/>
              </a:ext>
            </a:extLst>
          </p:cNvPr>
          <p:cNvSpPr txBox="1"/>
          <p:nvPr/>
        </p:nvSpPr>
        <p:spPr>
          <a:xfrm>
            <a:off x="4263491" y="390695"/>
            <a:ext cx="3665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Georgia" panose="02040502050405020303" pitchFamily="18" charset="0"/>
              </a:rPr>
              <a:t>Literature Review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D8CC20-69E6-303C-CF34-87115791F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72162"/>
              </p:ext>
            </p:extLst>
          </p:nvPr>
        </p:nvGraphicFramePr>
        <p:xfrm>
          <a:off x="353567" y="1074527"/>
          <a:ext cx="11484864" cy="4855465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871216">
                  <a:extLst>
                    <a:ext uri="{9D8B030D-6E8A-4147-A177-3AD203B41FA5}">
                      <a16:colId xmlns:a16="http://schemas.microsoft.com/office/drawing/2014/main" val="167999487"/>
                    </a:ext>
                  </a:extLst>
                </a:gridCol>
                <a:gridCol w="2871216">
                  <a:extLst>
                    <a:ext uri="{9D8B030D-6E8A-4147-A177-3AD203B41FA5}">
                      <a16:colId xmlns:a16="http://schemas.microsoft.com/office/drawing/2014/main" val="3190289723"/>
                    </a:ext>
                  </a:extLst>
                </a:gridCol>
                <a:gridCol w="2871216">
                  <a:extLst>
                    <a:ext uri="{9D8B030D-6E8A-4147-A177-3AD203B41FA5}">
                      <a16:colId xmlns:a16="http://schemas.microsoft.com/office/drawing/2014/main" val="2002361038"/>
                    </a:ext>
                  </a:extLst>
                </a:gridCol>
                <a:gridCol w="2871216">
                  <a:extLst>
                    <a:ext uri="{9D8B030D-6E8A-4147-A177-3AD203B41FA5}">
                      <a16:colId xmlns:a16="http://schemas.microsoft.com/office/drawing/2014/main" val="3536731984"/>
                    </a:ext>
                  </a:extLst>
                </a:gridCol>
              </a:tblGrid>
              <a:tr h="3229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Author &amp; Year</a:t>
                      </a:r>
                    </a:p>
                  </a:txBody>
                  <a:tcPr marL="56570" marR="56570" marT="28285" marB="282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Research Focus</a:t>
                      </a:r>
                    </a:p>
                  </a:txBody>
                  <a:tcPr marL="56570" marR="56570" marT="28285" marB="282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Key Findings</a:t>
                      </a:r>
                    </a:p>
                  </a:txBody>
                  <a:tcPr marL="56570" marR="56570" marT="28285" marB="282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Research Gap</a:t>
                      </a:r>
                    </a:p>
                  </a:txBody>
                  <a:tcPr marL="56570" marR="56570" marT="28285" marB="28285" anchor="ctr"/>
                </a:tc>
                <a:extLst>
                  <a:ext uri="{0D108BD9-81ED-4DB2-BD59-A6C34878D82A}">
                    <a16:rowId xmlns:a16="http://schemas.microsoft.com/office/drawing/2014/main" val="1902029384"/>
                  </a:ext>
                </a:extLst>
              </a:tr>
              <a:tr h="76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Oh et al. (2020)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Liver Biomarkers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Identified genomic liver biomarkers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Cancer comparison missing</a:t>
                      </a:r>
                    </a:p>
                  </a:txBody>
                  <a:tcPr marL="59399" marR="59399" marT="29699" marB="29699" anchor="ctr"/>
                </a:tc>
                <a:extLst>
                  <a:ext uri="{0D108BD9-81ED-4DB2-BD59-A6C34878D82A}">
                    <a16:rowId xmlns:a16="http://schemas.microsoft.com/office/drawing/2014/main" val="3024526330"/>
                  </a:ext>
                </a:extLst>
              </a:tr>
              <a:tr h="99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Ramachandran et al. (2020)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Liver Genomics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Explained liver cellular diversity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Comparative classification absent</a:t>
                      </a:r>
                    </a:p>
                  </a:txBody>
                  <a:tcPr marL="59399" marR="59399" marT="29699" marB="29699" anchor="ctr"/>
                </a:tc>
                <a:extLst>
                  <a:ext uri="{0D108BD9-81ED-4DB2-BD59-A6C34878D82A}">
                    <a16:rowId xmlns:a16="http://schemas.microsoft.com/office/drawing/2014/main" val="1349928433"/>
                  </a:ext>
                </a:extLst>
              </a:tr>
              <a:tr h="99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Rosati et al. (2024)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DEG Pipelines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Reviewed biomarker identification tools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Cross-disease analysis limited</a:t>
                      </a:r>
                    </a:p>
                  </a:txBody>
                  <a:tcPr marL="59399" marR="59399" marT="29699" marB="29699" anchor="ctr"/>
                </a:tc>
                <a:extLst>
                  <a:ext uri="{0D108BD9-81ED-4DB2-BD59-A6C34878D82A}">
                    <a16:rowId xmlns:a16="http://schemas.microsoft.com/office/drawing/2014/main" val="364004731"/>
                  </a:ext>
                </a:extLst>
              </a:tr>
              <a:tr h="998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Shibata &amp; Aburatani (2014)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Liver Cancer Genomics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Improved understanding of mutations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Single disease focus</a:t>
                      </a:r>
                    </a:p>
                  </a:txBody>
                  <a:tcPr marL="59399" marR="59399" marT="29699" marB="29699" anchor="ctr"/>
                </a:tc>
                <a:extLst>
                  <a:ext uri="{0D108BD9-81ED-4DB2-BD59-A6C34878D82A}">
                    <a16:rowId xmlns:a16="http://schemas.microsoft.com/office/drawing/2014/main" val="2345870427"/>
                  </a:ext>
                </a:extLst>
              </a:tr>
              <a:tr h="76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Yu et al. (2024)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Batch Effect Correction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Increased omics data reliability</a:t>
                      </a:r>
                    </a:p>
                  </a:txBody>
                  <a:tcPr marL="59399" marR="59399" marT="29699" marB="296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Comparative genomic classification absent</a:t>
                      </a:r>
                    </a:p>
                  </a:txBody>
                  <a:tcPr marL="59399" marR="59399" marT="29699" marB="29699" anchor="ctr"/>
                </a:tc>
                <a:extLst>
                  <a:ext uri="{0D108BD9-81ED-4DB2-BD59-A6C34878D82A}">
                    <a16:rowId xmlns:a16="http://schemas.microsoft.com/office/drawing/2014/main" val="324484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280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9944A-E847-2343-6005-1D5DA793B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A0F5B1-717E-8B51-C73E-688A07B410E4}"/>
              </a:ext>
            </a:extLst>
          </p:cNvPr>
          <p:cNvSpPr txBox="1"/>
          <p:nvPr/>
        </p:nvSpPr>
        <p:spPr>
          <a:xfrm>
            <a:off x="4836884" y="427271"/>
            <a:ext cx="2255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Georgia" panose="02040502050405020303" pitchFamily="18" charset="0"/>
              </a:rPr>
              <a:t>Methodology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7CAB7-25CE-CE37-B825-35FA7E059362}"/>
              </a:ext>
            </a:extLst>
          </p:cNvPr>
          <p:cNvSpPr txBox="1"/>
          <p:nvPr/>
        </p:nvSpPr>
        <p:spPr>
          <a:xfrm>
            <a:off x="300049" y="889340"/>
            <a:ext cx="11329416" cy="5541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Collect cancer and liver disease gene expression datasets from NCBI GEO database repositories.</a:t>
            </a:r>
          </a:p>
          <a:p>
            <a:pPr marL="285750" indent="-285750" algn="just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Remove duplicate samples and handle missing values ensuring reliable genomic dataset quality consistently.</a:t>
            </a:r>
          </a:p>
          <a:p>
            <a:pPr marL="285750" indent="-285750" algn="just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Normalize gene expression data and select informative features improving classification performance significantly overall.</a:t>
            </a:r>
          </a:p>
          <a:p>
            <a:pPr marL="285750" indent="-285750" algn="just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Split processed datasets into seventy percent training and thirty percent testing subsets systematically.</a:t>
            </a:r>
          </a:p>
          <a:p>
            <a:pPr marL="285750" indent="-285750" algn="just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Train Decision Tree, Random Forest, Support Vector Machine, and KNN classification models effectively.</a:t>
            </a:r>
          </a:p>
          <a:p>
            <a:pPr marL="285750" indent="-285750" algn="just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Evaluate model performance using accuracy, precision, recall, F1-score, and confusion matrix metrics.</a:t>
            </a:r>
          </a:p>
          <a:p>
            <a:pPr marL="285750" indent="-285750" algn="just">
              <a:lnSpc>
                <a:spcPct val="2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Compare classification results identifying optimal machine learning model for genomic disease prediction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1311237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4AB33-4F0C-7B29-E9A0-84045B607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038CB7-77C7-29F4-40BC-BCEA89D6DF9A}"/>
              </a:ext>
            </a:extLst>
          </p:cNvPr>
          <p:cNvSpPr txBox="1"/>
          <p:nvPr/>
        </p:nvSpPr>
        <p:spPr>
          <a:xfrm>
            <a:off x="4836884" y="427271"/>
            <a:ext cx="2255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Georgia" panose="02040502050405020303" pitchFamily="18" charset="0"/>
              </a:rPr>
              <a:t>Methodology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6D80D7-6CF6-7377-A6EE-FCF02AC8D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215" y="1250232"/>
            <a:ext cx="4928761" cy="507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77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34B67-E606-5D38-60E7-6B955B66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708F7A-F208-4241-9D4F-11D2019EF234}"/>
              </a:ext>
            </a:extLst>
          </p:cNvPr>
          <p:cNvSpPr txBox="1"/>
          <p:nvPr/>
        </p:nvSpPr>
        <p:spPr>
          <a:xfrm>
            <a:off x="4149794" y="445559"/>
            <a:ext cx="3892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Georgia" panose="02040502050405020303" pitchFamily="18" charset="0"/>
              </a:rPr>
              <a:t>Tools and Technologies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3D9FF-8D8A-A2B5-9578-26C46240F8C1}"/>
              </a:ext>
            </a:extLst>
          </p:cNvPr>
          <p:cNvSpPr txBox="1"/>
          <p:nvPr/>
        </p:nvSpPr>
        <p:spPr>
          <a:xfrm>
            <a:off x="804672" y="1489302"/>
            <a:ext cx="9166860" cy="3879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Python: </a:t>
            </a:r>
            <a:r>
              <a:rPr lang="en-US" dirty="0">
                <a:latin typeface="Georgia" panose="02040502050405020303" pitchFamily="18" charset="0"/>
              </a:rPr>
              <a:t>Data preprocessing and machine learning implementation.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Jupyter Notebook: </a:t>
            </a:r>
            <a:r>
              <a:rPr lang="en-US" dirty="0">
                <a:latin typeface="Georgia" panose="02040502050405020303" pitchFamily="18" charset="0"/>
              </a:rPr>
              <a:t>Coding, testing, and experiment execution.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NCBI GEO: </a:t>
            </a:r>
            <a:r>
              <a:rPr lang="en-US" dirty="0">
                <a:latin typeface="Georgia" panose="02040502050405020303" pitchFamily="18" charset="0"/>
              </a:rPr>
              <a:t>Public genomic gene expression datasets.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NumPy: </a:t>
            </a:r>
            <a:r>
              <a:rPr lang="en-US" dirty="0">
                <a:latin typeface="Georgia" panose="02040502050405020303" pitchFamily="18" charset="0"/>
              </a:rPr>
              <a:t>Numerical computation and array processing.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Pandas: </a:t>
            </a:r>
            <a:r>
              <a:rPr lang="en-US" dirty="0">
                <a:latin typeface="Georgia" panose="02040502050405020303" pitchFamily="18" charset="0"/>
              </a:rPr>
              <a:t>Data cleaning and preprocessing.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Scikit-learn: </a:t>
            </a:r>
            <a:r>
              <a:rPr lang="en-US" dirty="0">
                <a:latin typeface="Georgia" panose="02040502050405020303" pitchFamily="18" charset="0"/>
              </a:rPr>
              <a:t>Machine learning model development.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Matplotlib &amp; Seaborn: </a:t>
            </a:r>
            <a:r>
              <a:rPr lang="en-US" dirty="0">
                <a:latin typeface="Georgia" panose="02040502050405020303" pitchFamily="18" charset="0"/>
              </a:rPr>
              <a:t>Data visualization and performance analysis.</a:t>
            </a:r>
          </a:p>
        </p:txBody>
      </p:sp>
    </p:spTree>
    <p:extLst>
      <p:ext uri="{BB962C8B-B14F-4D97-AF65-F5344CB8AC3E}">
        <p14:creationId xmlns:p14="http://schemas.microsoft.com/office/powerpoint/2010/main" val="1775331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33224-27C1-7969-BD2D-716126DE5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AC1991-9DC2-8C7D-B04B-854115FDF6B9}"/>
              </a:ext>
            </a:extLst>
          </p:cNvPr>
          <p:cNvSpPr txBox="1"/>
          <p:nvPr/>
        </p:nvSpPr>
        <p:spPr>
          <a:xfrm>
            <a:off x="4836884" y="427271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Georgia" panose="02040502050405020303" pitchFamily="18" charset="0"/>
              </a:rPr>
              <a:t>Outcomes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B8169-D7A5-F9FF-5218-E507E639FCEE}"/>
              </a:ext>
            </a:extLst>
          </p:cNvPr>
          <p:cNvSpPr txBox="1"/>
          <p:nvPr/>
        </p:nvSpPr>
        <p:spPr>
          <a:xfrm>
            <a:off x="243840" y="1071816"/>
            <a:ext cx="11704320" cy="5022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Develop an accurate machine learning framework for cancer and liver disease classification successfully.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Identify significant gene expression patterns associated with cancer and liver disease progression accurately.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Discover potential biomarkers supporting early diagnosis and personalized treatment strategies for patients effectively.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Compare machine learning algorithms identifying highest performing model for genomic disease classification accuracy.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Improve understanding of shared and disease-specific molecular mechanisms through comparative genomic analysis studies.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Support future precision medicine research using reliable genomic datasets and computational analytical approaches.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Provide reproducible comparative genomic analysis framework benefiting biomedical researchers and healthcare professionals globally.</a:t>
            </a:r>
          </a:p>
        </p:txBody>
      </p:sp>
    </p:spTree>
    <p:extLst>
      <p:ext uri="{BB962C8B-B14F-4D97-AF65-F5344CB8AC3E}">
        <p14:creationId xmlns:p14="http://schemas.microsoft.com/office/powerpoint/2010/main" val="487357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C3073-7AC8-304B-59DF-8663EAEC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C04CC1-ECDF-8404-C990-7772B8AD3849}"/>
              </a:ext>
            </a:extLst>
          </p:cNvPr>
          <p:cNvSpPr txBox="1"/>
          <p:nvPr/>
        </p:nvSpPr>
        <p:spPr>
          <a:xfrm>
            <a:off x="4836884" y="427271"/>
            <a:ext cx="1962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Georgia" panose="02040502050405020303" pitchFamily="18" charset="0"/>
              </a:rPr>
              <a:t>Conclusion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367E00-1442-64E5-AA4A-F676D10A5F89}"/>
              </a:ext>
            </a:extLst>
          </p:cNvPr>
          <p:cNvSpPr txBox="1"/>
          <p:nvPr/>
        </p:nvSpPr>
        <p:spPr>
          <a:xfrm>
            <a:off x="445008" y="888936"/>
            <a:ext cx="11301984" cy="585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Comparative genomic analysis enhances understanding of cancer and liver disease molecular mechanisms effectively.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Machine learning models improve accurate classification using publicly available genomic gene expression datasets.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Data preprocessing ensures reliable genomic information for effective disease prediction and comparative analysis.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Comparative evaluation identifies optimal machine learning algorithms for accurate genomic disease classification performance.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Identified genomic patterns support biomarker discovery and future personalized precision medicine research initiatives.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Proposed framework provides reliable, scalable approach for comparative genomic disease classification and analysis.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dirty="0"/>
              <a:t>Research contributes valuable computational insights supporting future biomedical research and clinical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1595138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D21F5B-659B-59DD-7855-A22AC5764DEA}"/>
              </a:ext>
            </a:extLst>
          </p:cNvPr>
          <p:cNvSpPr txBox="1"/>
          <p:nvPr/>
        </p:nvSpPr>
        <p:spPr>
          <a:xfrm>
            <a:off x="4836884" y="427271"/>
            <a:ext cx="1947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latin typeface="Georgia" panose="02040502050405020303" pitchFamily="18" charset="0"/>
              </a:rPr>
              <a:t>References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802914-68CC-7905-3400-A7FC71332061}"/>
              </a:ext>
            </a:extLst>
          </p:cNvPr>
          <p:cNvSpPr txBox="1"/>
          <p:nvPr/>
        </p:nvSpPr>
        <p:spPr>
          <a:xfrm>
            <a:off x="374760" y="1024128"/>
            <a:ext cx="10872216" cy="555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Oh, S., Jo, Y., Jung, S., Yoon, S., and Yoo, K. H. (2020). </a:t>
            </a:r>
            <a:r>
              <a:rPr lang="en-US" i="1" dirty="0"/>
              <a:t>From genome sequencing to the discovery of potential biomarkers in liver disease</a:t>
            </a:r>
            <a:r>
              <a:rPr lang="en-US" dirty="0"/>
              <a:t>. BMB Reports, 53(6), 299–310.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Ramachandran, P. et al. (2020). </a:t>
            </a:r>
            <a:r>
              <a:rPr lang="en-US" i="1" dirty="0"/>
              <a:t>Single-cell genomics and spatial transcriptomics in liver physiology and disease biology</a:t>
            </a:r>
            <a:r>
              <a:rPr lang="en-US" dirty="0"/>
              <a:t>. Journal of Hepatology, 73(5), 1219–1230.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Rosati, D., Palmieri, M., Brunelli, G., </a:t>
            </a:r>
            <a:r>
              <a:rPr lang="en-US" dirty="0" err="1"/>
              <a:t>Morrione</a:t>
            </a:r>
            <a:r>
              <a:rPr lang="en-US" dirty="0"/>
              <a:t>, A., Iannelli, F., </a:t>
            </a:r>
            <a:r>
              <a:rPr lang="en-US" dirty="0" err="1"/>
              <a:t>Frullanti</a:t>
            </a:r>
            <a:r>
              <a:rPr lang="en-US" dirty="0"/>
              <a:t>, E., and Giordano, A. (2024). </a:t>
            </a:r>
            <a:r>
              <a:rPr lang="en-US" i="1" dirty="0"/>
              <a:t>Differential gene expression analysis pipelines and bioinformatic tools for the identification of specific biomarkers: A review</a:t>
            </a:r>
            <a:r>
              <a:rPr lang="en-US" dirty="0"/>
              <a:t>. Computational and Structural Biotechnology Journal, 23, 1154–1168.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Shibata, T., and </a:t>
            </a:r>
            <a:r>
              <a:rPr lang="en-US" dirty="0" err="1"/>
              <a:t>Aburatani</a:t>
            </a:r>
            <a:r>
              <a:rPr lang="en-US" dirty="0"/>
              <a:t>, H. (2014). </a:t>
            </a:r>
            <a:r>
              <a:rPr lang="en-US" i="1" dirty="0"/>
              <a:t>Exploration of liver cancer genomes</a:t>
            </a:r>
            <a:r>
              <a:rPr lang="en-US" dirty="0"/>
              <a:t>. Nature Reviews Gastroenterology &amp; Hepatology, 11(6), 340–349.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Yu, Y. et al. (2024). </a:t>
            </a:r>
            <a:r>
              <a:rPr lang="en-US" i="1" dirty="0"/>
              <a:t>Assessing and mitigating batch effects in large-scale omics studies</a:t>
            </a:r>
            <a:r>
              <a:rPr lang="en-US" dirty="0"/>
              <a:t>. Genome Biology, 25.</a:t>
            </a:r>
          </a:p>
        </p:txBody>
      </p:sp>
    </p:spTree>
    <p:extLst>
      <p:ext uri="{BB962C8B-B14F-4D97-AF65-F5344CB8AC3E}">
        <p14:creationId xmlns:p14="http://schemas.microsoft.com/office/powerpoint/2010/main" val="4274363583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57</TotalTime>
  <Words>979</Words>
  <Application>Microsoft Office PowerPoint</Application>
  <PresentationFormat>Widescreen</PresentationFormat>
  <Paragraphs>115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Narrow</vt:lpstr>
      <vt:lpstr>Arial</vt:lpstr>
      <vt:lpstr>Georgia</vt:lpstr>
      <vt:lpstr>Grandview</vt:lpstr>
      <vt:lpstr>Wingdings</vt:lpstr>
      <vt:lpstr>CosineVTI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37</cp:revision>
  <dcterms:created xsi:type="dcterms:W3CDTF">2026-07-04T08:59:48Z</dcterms:created>
  <dcterms:modified xsi:type="dcterms:W3CDTF">2026-07-04T19:57:17Z</dcterms:modified>
</cp:coreProperties>
</file>